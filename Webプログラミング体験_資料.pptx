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EF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389120"/>
            <a:ext cx="3840480" cy="3840480"/>
          </a:xfrm>
          <a:prstGeom prst="ellipse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822960"/>
            <a:ext cx="457200" cy="457200"/>
          </a:xfrm>
          <a:prstGeom prst="ellipse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>
                <a:solidFill>
                  <a:srgbClr val="FFF8EC"/>
                </a:solidFill>
                <a:latin typeface="Hiragino Kaku Gothic ProN"/>
              </a:rPr>
              <a:t>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2296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7A6D54"/>
                </a:solidFill>
                <a:latin typeface="Hiragino Kaku Gothic ProN"/>
              </a:rPr>
              <a:t>旅ノート | Web体験版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2C2418"/>
                </a:solidFill>
                <a:latin typeface="Hiragino Mincho ProN"/>
              </a:rPr>
              <a:t>Webプログラミング体験授業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5551F"/>
                </a:solidFill>
                <a:latin typeface="Hiragino Mincho ProN"/>
              </a:rPr>
              <a:t>「旅行スポット共有サイト」を、少しずつ完成させよう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977639"/>
            <a:ext cx="2194560" cy="38100"/>
          </a:xfrm>
          <a:prstGeom prst="rect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5196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6D54"/>
                </a:solidFill>
                <a:latin typeface="Hiragino Kaku Gothic ProN"/>
              </a:rPr>
              <a:t>コードを直すと、Webアプリの動きが変わる。それを自分の手で体感しよう。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60704" cy="384048"/>
          </a:xfrm>
          <a:prstGeom prst="roundRect">
            <a:avLst>
              <a:gd name="adj" fmla="val 50000"/>
            </a:avLst>
          </a:prstGeom>
          <a:solidFill>
            <a:srgbClr val="F7E9DC"/>
          </a:solidFill>
          <a:ln w="9525">
            <a:solidFill>
              <a:srgbClr val="ECD3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760720"/>
            <a:ext cx="106070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5551F"/>
                </a:solidFill>
                <a:latin typeface="Hiragino Kaku Gothic ProN"/>
              </a:rPr>
              <a:t>VSCode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48256" y="5760720"/>
            <a:ext cx="758952" cy="384048"/>
          </a:xfrm>
          <a:prstGeom prst="roundRect">
            <a:avLst>
              <a:gd name="adj" fmla="val 50000"/>
            </a:avLst>
          </a:prstGeom>
          <a:solidFill>
            <a:srgbClr val="F7E9DC"/>
          </a:solidFill>
          <a:ln w="9525">
            <a:solidFill>
              <a:srgbClr val="ECD3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8256" y="5760720"/>
            <a:ext cx="7589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5551F"/>
                </a:solidFill>
                <a:latin typeface="Hiragino Kaku Gothic ProN"/>
              </a:rPr>
              <a:t>PHP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5760720"/>
            <a:ext cx="1060704" cy="384048"/>
          </a:xfrm>
          <a:prstGeom prst="roundRect">
            <a:avLst>
              <a:gd name="adj" fmla="val 50000"/>
            </a:avLst>
          </a:prstGeom>
          <a:solidFill>
            <a:srgbClr val="F7E9DC"/>
          </a:solidFill>
          <a:ln w="9525">
            <a:solidFill>
              <a:srgbClr val="ECD3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5760720"/>
            <a:ext cx="106070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5551F"/>
                </a:solidFill>
                <a:latin typeface="Hiragino Kaku Gothic ProN"/>
              </a:rPr>
              <a:t>SQLite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97096" y="576072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F7E9DC"/>
          </a:solidFill>
          <a:ln w="9525">
            <a:solidFill>
              <a:srgbClr val="ECD3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97096" y="5760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5551F"/>
                </a:solidFill>
                <a:latin typeface="Hiragino Kaku Gothic ProN"/>
              </a:rPr>
              <a:t>HTML / CSS / 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Webプログラミング体験授業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4864" cy="256032"/>
          </a:xfrm>
          <a:prstGeom prst="rect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6576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5551F"/>
                </a:solidFill>
                <a:latin typeface="Hiragino Kaku Gothic ProN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C2418"/>
                </a:solidFill>
                <a:latin typeface="Hiragino Mincho ProN"/>
              </a:rPr>
              <a:t>今日やること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7A6D54"/>
                </a:solidFill>
                <a:latin typeface="Hiragino Kaku Gothic ProN"/>
              </a:rPr>
              <a:t>旅行スポット共有サイトの「未完成な部分」を、順番に完成させていきます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2057399"/>
            <a:ext cx="384048" cy="384048"/>
          </a:xfrm>
          <a:prstGeom prst="ellipse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8EC"/>
                </a:solidFill>
                <a:latin typeface="Hiragino Kaku Gothic ProN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39111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C2418"/>
                </a:solidFill>
                <a:latin typeface="Hiragino Kaku Gothic ProN"/>
              </a:rPr>
              <a:t>プログラミングって何？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87751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A6D54"/>
                </a:solidFill>
                <a:latin typeface="Hiragino Kaku Gothic ProN"/>
              </a:rPr>
              <a:t>料理づくりに例えて、システム開発の流れをつかむ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87952" y="1874519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9120" y="2057399"/>
            <a:ext cx="384048" cy="384048"/>
          </a:xfrm>
          <a:prstGeom prst="ellipse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8EC"/>
                </a:solidFill>
                <a:latin typeface="Hiragino Kaku Gothic ProN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9472" y="2039111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C2418"/>
                </a:solidFill>
                <a:latin typeface="Hiragino Kaku Gothic ProN"/>
              </a:rPr>
              <a:t>コードを直してみよう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587751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A6D54"/>
                </a:solidFill>
                <a:latin typeface="Hiragino Kaku Gothic ProN"/>
              </a:rPr>
              <a:t>ボタンの文字を変える／コメントアウトを外す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1874519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19872" y="2057399"/>
            <a:ext cx="384048" cy="384048"/>
          </a:xfrm>
          <a:prstGeom prst="ellipse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8EC"/>
                </a:solidFill>
                <a:latin typeface="Hiragino Kaku Gothic ProN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0224" y="2039111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C2418"/>
                </a:solidFill>
                <a:latin typeface="Hiragino Kaku Gothic ProN"/>
              </a:rPr>
              <a:t>APIってなに？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2587751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A6D54"/>
                </a:solidFill>
                <a:latin typeface="Hiragino Kaku Gothic ProN"/>
              </a:rPr>
              <a:t>現在地から住所が自動で入力される仕組みを体験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74719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" y="3657599"/>
            <a:ext cx="384048" cy="384048"/>
          </a:xfrm>
          <a:prstGeom prst="ellipse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8EC"/>
                </a:solidFill>
                <a:latin typeface="Hiragino Kaku Gothic ProN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639311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C2418"/>
                </a:solidFill>
                <a:latin typeface="Hiragino Kaku Gothic ProN"/>
              </a:rPr>
              <a:t>データベースって何？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187951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A6D54"/>
                </a:solidFill>
                <a:latin typeface="Hiragino Kaku Gothic ProN"/>
              </a:rPr>
              <a:t>投稿やコメントの情報がどう保存されているか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87952" y="3474719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89120" y="3657599"/>
            <a:ext cx="384048" cy="384048"/>
          </a:xfrm>
          <a:prstGeom prst="ellipse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8EC"/>
                </a:solidFill>
                <a:latin typeface="Hiragino Kaku Gothic ProN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9472" y="3639311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C2418"/>
                </a:solidFill>
                <a:latin typeface="Hiragino Kaku Gothic ProN"/>
              </a:rPr>
              <a:t>入力チェックを作ろう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187951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A6D54"/>
                </a:solidFill>
                <a:latin typeface="Hiragino Kaku Gothic ProN"/>
              </a:rPr>
              <a:t>空欄のまま投稿できてしまう問題を自分で直す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18704" y="3474719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19872" y="3657599"/>
            <a:ext cx="384048" cy="384048"/>
          </a:xfrm>
          <a:prstGeom prst="ellipse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8EC"/>
                </a:solidFill>
                <a:latin typeface="Hiragino Kaku Gothic ProN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0224" y="3639311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C2418"/>
                </a:solidFill>
                <a:latin typeface="Hiragino Kaku Gothic ProN"/>
              </a:rPr>
              <a:t>自由にアレンジ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9872" y="4187951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A6D54"/>
                </a:solidFill>
                <a:latin typeface="Hiragino Kaku Gothic ProN"/>
              </a:rPr>
              <a:t>表示の文言などを自分の工夫で変えてみる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Webプログラミング体験授業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4864" cy="256032"/>
          </a:xfrm>
          <a:prstGeom prst="rect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6576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5551F"/>
                </a:solidFill>
                <a:latin typeface="Hiragino Kaku Gothic ProN"/>
              </a:rPr>
              <a:t>STEP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C2418"/>
                </a:solidFill>
                <a:latin typeface="Hiragino Mincho ProN"/>
              </a:rPr>
              <a:t>プログラミングって何？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7A6D54"/>
                </a:solidFill>
                <a:latin typeface="Hiragino Kaku Gothic ProN"/>
              </a:rPr>
              <a:t>システムをつくる流れは、「料理をつくる」流れとよく似ています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1783080" cy="13716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13432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C2418"/>
                </a:solidFill>
                <a:latin typeface="Hiragino Kaku Gothic ProN"/>
              </a:rPr>
              <a:t>要件定義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2715768"/>
            <a:ext cx="594360" cy="19050"/>
          </a:xfrm>
          <a:prstGeom prst="rect">
            <a:avLst/>
          </a:prstGeom>
          <a:solidFill>
            <a:srgbClr val="DDC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898648"/>
            <a:ext cx="1636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7A6D54"/>
                </a:solidFill>
                <a:latin typeface="Hiragino Kaku Gothic ProN"/>
              </a:rPr>
              <a:t>メニューを決める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76856" y="2697480"/>
            <a:ext cx="281178" cy="274320"/>
          </a:xfrm>
          <a:prstGeom prst="rightArrow">
            <a:avLst/>
          </a:prstGeom>
          <a:solidFill>
            <a:srgbClr val="8A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94610" y="2148840"/>
            <a:ext cx="1783080" cy="13716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4610" y="2313432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C2418"/>
                </a:solidFill>
                <a:latin typeface="Hiragino Kaku Gothic ProN"/>
              </a:rPr>
              <a:t>設計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8970" y="2715768"/>
            <a:ext cx="594360" cy="19050"/>
          </a:xfrm>
          <a:prstGeom prst="rect">
            <a:avLst/>
          </a:prstGeom>
          <a:solidFill>
            <a:srgbClr val="DDC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67762" y="2898648"/>
            <a:ext cx="1636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7A6D54"/>
                </a:solidFill>
                <a:latin typeface="Hiragino Kaku Gothic ProN"/>
              </a:rPr>
              <a:t>レシピを考える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414266" y="2697480"/>
            <a:ext cx="281178" cy="274320"/>
          </a:xfrm>
          <a:prstGeom prst="rightArrow">
            <a:avLst/>
          </a:prstGeom>
          <a:solidFill>
            <a:srgbClr val="8A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32020" y="2148840"/>
            <a:ext cx="1783080" cy="1371600"/>
          </a:xfrm>
          <a:prstGeom prst="roundRect">
            <a:avLst>
              <a:gd name="adj" fmla="val 5000"/>
            </a:avLst>
          </a:prstGeom>
          <a:solidFill>
            <a:srgbClr val="EFE6D3"/>
          </a:solidFill>
          <a:ln w="12700">
            <a:solidFill>
              <a:srgbClr val="B5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2020" y="2313432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B5551F"/>
                </a:solidFill>
                <a:latin typeface="Hiragino Kaku Gothic ProN"/>
              </a:rPr>
              <a:t>実装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26380" y="2715768"/>
            <a:ext cx="594360" cy="19050"/>
          </a:xfrm>
          <a:prstGeom prst="rect">
            <a:avLst/>
          </a:prstGeom>
          <a:solidFill>
            <a:srgbClr val="DDC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5172" y="2898648"/>
            <a:ext cx="1636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7A6D54"/>
                </a:solidFill>
                <a:latin typeface="Hiragino Kaku Gothic ProN"/>
              </a:rPr>
              <a:t>調理する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551676" y="2697480"/>
            <a:ext cx="281178" cy="274320"/>
          </a:xfrm>
          <a:prstGeom prst="rightArrow">
            <a:avLst/>
          </a:prstGeom>
          <a:solidFill>
            <a:srgbClr val="8A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69430" y="2148840"/>
            <a:ext cx="1783080" cy="13716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69430" y="2313432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C2418"/>
                </a:solidFill>
                <a:latin typeface="Hiragino Kaku Gothic ProN"/>
              </a:rPr>
              <a:t>テスト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63790" y="2715768"/>
            <a:ext cx="594360" cy="19050"/>
          </a:xfrm>
          <a:prstGeom prst="rect">
            <a:avLst/>
          </a:prstGeom>
          <a:solidFill>
            <a:srgbClr val="DDC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2582" y="2898648"/>
            <a:ext cx="1636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7A6D54"/>
                </a:solidFill>
                <a:latin typeface="Hiragino Kaku Gothic ProN"/>
              </a:rPr>
              <a:t>味見して直す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689086" y="2697480"/>
            <a:ext cx="281178" cy="274320"/>
          </a:xfrm>
          <a:prstGeom prst="rightArrow">
            <a:avLst/>
          </a:prstGeom>
          <a:solidFill>
            <a:srgbClr val="8A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06840" y="2148840"/>
            <a:ext cx="1783080" cy="13716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2313432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C2418"/>
                </a:solidFill>
                <a:latin typeface="Hiragino Kaku Gothic ProN"/>
              </a:rPr>
              <a:t>運用保守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2715768"/>
            <a:ext cx="594360" cy="19050"/>
          </a:xfrm>
          <a:prstGeom prst="rect">
            <a:avLst/>
          </a:prstGeom>
          <a:solidFill>
            <a:srgbClr val="DDC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9992" y="2898648"/>
            <a:ext cx="1636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7A6D54"/>
                </a:solidFill>
                <a:latin typeface="Hiragino Kaku Gothic ProN"/>
              </a:rPr>
              <a:t>食事・片付け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20440" y="3977639"/>
            <a:ext cx="5120640" cy="502920"/>
          </a:xfrm>
          <a:prstGeom prst="roundRect">
            <a:avLst>
              <a:gd name="adj" fmla="val 50000"/>
            </a:avLst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3977639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FFF8EC"/>
                </a:solidFill>
                <a:latin typeface="Hiragino Kaku Gothic ProN"/>
              </a:rPr>
              <a:t>今日は「実装」「テスト」の部分を体験します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Webプログラミング体験授業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4864" cy="256032"/>
          </a:xfrm>
          <a:prstGeom prst="rect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6576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5551F"/>
                </a:solidFill>
                <a:latin typeface="Hiragino Kaku Gothic ProN"/>
              </a:rPr>
              <a:t>STEP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C2418"/>
                </a:solidFill>
                <a:latin typeface="Hiragino Mincho ProN"/>
              </a:rPr>
              <a:t>Webページの「表の顔」と「裏の顔」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7A6D54"/>
                </a:solidFill>
                <a:latin typeface="Hiragino Kaku Gothic ProN"/>
              </a:rPr>
              <a:t>見えている部分（フロントエンド）と、見えない部分（バックエンド）があります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5074920" cy="41148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5074920" cy="91440"/>
          </a:xfrm>
          <a:prstGeom prst="rect">
            <a:avLst/>
          </a:prstGeom>
          <a:solidFill>
            <a:srgbClr val="8A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C2418"/>
                </a:solidFill>
                <a:latin typeface="Hiragino Kaku Gothic ProN"/>
              </a:rPr>
              <a:t>🍜 表の顔だけ＝カップラーメン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A6D54"/>
                </a:solidFill>
                <a:latin typeface="Hiragino Kaku Gothic ProN"/>
              </a:rPr>
              <a:t>フロントエンド（HTML / CSS / JavaScript）のみ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4434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2C2418"/>
                </a:solidFill>
                <a:latin typeface="Hiragino Kaku Gothic ProN"/>
              </a:rPr>
              <a:t>●  すぐに提供できる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2C2418"/>
                </a:solidFill>
                <a:latin typeface="Hiragino Kaku Gothic ProN"/>
              </a:rPr>
              <a:t>●  だれに対しても同じ表示・同じ動き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2C2418"/>
                </a:solidFill>
                <a:latin typeface="Hiragino Kaku Gothic ProN"/>
              </a:rPr>
              <a:t>●  サーバー側の処理がない＝
個人に合わせた表示はできない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42432" y="1920240"/>
            <a:ext cx="5074920" cy="4114800"/>
          </a:xfrm>
          <a:prstGeom prst="roundRect">
            <a:avLst>
              <a:gd name="adj" fmla="val 5000"/>
            </a:avLst>
          </a:prstGeom>
          <a:solidFill>
            <a:srgbClr val="F7E9DC"/>
          </a:solidFill>
          <a:ln w="12700">
            <a:solidFill>
              <a:srgbClr val="B5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42432" y="1920240"/>
            <a:ext cx="5074920" cy="91440"/>
          </a:xfrm>
          <a:prstGeom prst="rect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62472" y="2194560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C2418"/>
                </a:solidFill>
                <a:latin typeface="Hiragino Kaku Gothic ProN"/>
              </a:rPr>
              <a:t>🍜 裏の顔まで＝ラーメン屋さん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2472" y="2697480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5551F"/>
                </a:solidFill>
                <a:latin typeface="Hiragino Kaku Gothic ProN"/>
              </a:rPr>
              <a:t>＋ バックエンド（今回は PHP）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2472" y="3291840"/>
            <a:ext cx="4434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2C2418"/>
                </a:solidFill>
                <a:latin typeface="Hiragino Kaku Gothic ProN"/>
              </a:rPr>
              <a:t>●  提供までに少し時間がかかる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2C2418"/>
                </a:solidFill>
                <a:latin typeface="Hiragino Kaku Gothic ProN"/>
              </a:rPr>
              <a:t>●  お客さんに合わせた味・トッピングができる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2C2418"/>
                </a:solidFill>
                <a:latin typeface="Hiragino Kaku Gothic ProN"/>
              </a:rPr>
              <a:t>●  サーバー側でデータを処理
＝一人ひとりに合わせた表示ができる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722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B5551F"/>
                </a:solidFill>
                <a:latin typeface="Hiragino Kaku Gothic ProN"/>
              </a:rPr>
              <a:t>今日は、この「厨房エリア（バックエンド）」を覗いてみましょう！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Webプログラミング体験授業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4864" cy="256032"/>
          </a:xfrm>
          <a:prstGeom prst="rect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6576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5551F"/>
                </a:solidFill>
                <a:latin typeface="Hiragino Kaku Gothic ProN"/>
              </a:rPr>
              <a:t>STEP 0 →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C2418"/>
                </a:solidFill>
                <a:latin typeface="Hiragino Mincho ProN"/>
              </a:rPr>
              <a:t>サイトを起動してみよう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10332720" cy="105156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2011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5551F"/>
                </a:solidFill>
                <a:latin typeface="Hiragino Kaku Gothic ProN"/>
              </a:rPr>
              <a:t>起動方法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965960"/>
            <a:ext cx="3017520" cy="502920"/>
          </a:xfrm>
          <a:prstGeom prst="roundRect">
            <a:avLst>
              <a:gd name="adj" fmla="val 15000"/>
            </a:avLst>
          </a:prstGeom>
          <a:solidFill>
            <a:srgbClr val="2C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965960"/>
            <a:ext cx="3017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7E9DC"/>
                </a:solidFill>
                <a:latin typeface="Courier New"/>
              </a:rPr>
              <a:t>start-mac.sh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965960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7A6D54"/>
                </a:solidFill>
                <a:latin typeface="Hiragino Kaku Gothic ProN"/>
              </a:rPr>
              <a:t>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965960"/>
            <a:ext cx="3566160" cy="502920"/>
          </a:xfrm>
          <a:prstGeom prst="roundRect">
            <a:avLst>
              <a:gd name="adj" fmla="val 15000"/>
            </a:avLst>
          </a:prstGeom>
          <a:solidFill>
            <a:srgbClr val="2C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65960"/>
            <a:ext cx="3566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7E9DC"/>
                </a:solidFill>
                <a:latin typeface="Courier New"/>
              </a:rPr>
              <a:t>start-win.bat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2C2418"/>
                </a:solidFill>
                <a:latin typeface="Hiragino Kaku Gothic ProN"/>
              </a:rPr>
              <a:t>●  ダブルクリック（または実行）するだけでサイトが起動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2C2418"/>
                </a:solidFill>
                <a:latin typeface="Hiragino Kaku Gothic ProN"/>
              </a:rPr>
              <a:t>●  ブラウザで表示されたURLを開く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2C2418"/>
                </a:solidFill>
                <a:latin typeface="Hiragino Kaku Gothic ProN"/>
              </a:rPr>
              <a:t>●  VSCodeとPHPさえ入っていれば準備完了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063240"/>
            <a:ext cx="4800600" cy="2926080"/>
          </a:xfrm>
          <a:prstGeom prst="roundRect">
            <a:avLst>
              <a:gd name="adj" fmla="val 5000"/>
            </a:avLst>
          </a:prstGeom>
          <a:solidFill>
            <a:srgbClr val="EFE6D3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291840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C2418"/>
                </a:solidFill>
                <a:latin typeface="Hiragino Kaku Gothic ProN"/>
              </a:rPr>
              <a:t>今日たどる画面の流れ</a:t>
            </a:r>
          </a:p>
        </p:txBody>
      </p:sp>
      <p:sp>
        <p:nvSpPr>
          <p:cNvPr id="15" name="Oval 14"/>
          <p:cNvSpPr/>
          <p:nvPr/>
        </p:nvSpPr>
        <p:spPr>
          <a:xfrm>
            <a:off x="6263640" y="3840480"/>
            <a:ext cx="384048" cy="384048"/>
          </a:xfrm>
          <a:prstGeom prst="ellipse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8EC"/>
                </a:solidFill>
                <a:latin typeface="Hiragino Kaku Gothic ProN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858768"/>
            <a:ext cx="3794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C2418"/>
                </a:solidFill>
                <a:latin typeface="Hiragino Kaku Gothic ProN"/>
              </a:rPr>
              <a:t>ログイン画面</a:t>
            </a:r>
          </a:p>
        </p:txBody>
      </p:sp>
      <p:sp>
        <p:nvSpPr>
          <p:cNvPr id="17" name="Oval 16"/>
          <p:cNvSpPr/>
          <p:nvPr/>
        </p:nvSpPr>
        <p:spPr>
          <a:xfrm>
            <a:off x="6263640" y="4242816"/>
            <a:ext cx="384048" cy="384048"/>
          </a:xfrm>
          <a:prstGeom prst="ellipse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8EC"/>
                </a:solidFill>
                <a:latin typeface="Hiragino Kaku Gothic ProN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261104"/>
            <a:ext cx="3794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C2418"/>
                </a:solidFill>
                <a:latin typeface="Hiragino Kaku Gothic ProN"/>
              </a:rPr>
              <a:t>新規登録画面</a:t>
            </a:r>
          </a:p>
        </p:txBody>
      </p:sp>
      <p:sp>
        <p:nvSpPr>
          <p:cNvPr id="19" name="Oval 18"/>
          <p:cNvSpPr/>
          <p:nvPr/>
        </p:nvSpPr>
        <p:spPr>
          <a:xfrm>
            <a:off x="6263640" y="4645152"/>
            <a:ext cx="384048" cy="384048"/>
          </a:xfrm>
          <a:prstGeom prst="ellipse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8EC"/>
                </a:solidFill>
                <a:latin typeface="Hiragino Kaku Gothic ProN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663440"/>
            <a:ext cx="3794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C2418"/>
                </a:solidFill>
                <a:latin typeface="Hiragino Kaku Gothic ProN"/>
              </a:rPr>
              <a:t>会員登録 → ログイン</a:t>
            </a:r>
          </a:p>
        </p:txBody>
      </p:sp>
      <p:sp>
        <p:nvSpPr>
          <p:cNvPr id="21" name="Oval 20"/>
          <p:cNvSpPr/>
          <p:nvPr/>
        </p:nvSpPr>
        <p:spPr>
          <a:xfrm>
            <a:off x="6263640" y="5047488"/>
            <a:ext cx="384048" cy="384048"/>
          </a:xfrm>
          <a:prstGeom prst="ellipse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8EC"/>
                </a:solidFill>
                <a:latin typeface="Hiragino Kaku Gothic ProN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065776"/>
            <a:ext cx="3794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C2418"/>
                </a:solidFill>
                <a:latin typeface="Hiragino Kaku Gothic ProN"/>
              </a:rPr>
              <a:t>投稿ページ（スポット投稿）</a:t>
            </a:r>
          </a:p>
        </p:txBody>
      </p:sp>
      <p:sp>
        <p:nvSpPr>
          <p:cNvPr id="23" name="Oval 22"/>
          <p:cNvSpPr/>
          <p:nvPr/>
        </p:nvSpPr>
        <p:spPr>
          <a:xfrm>
            <a:off x="6263640" y="5449824"/>
            <a:ext cx="384048" cy="384048"/>
          </a:xfrm>
          <a:prstGeom prst="ellipse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8EC"/>
                </a:solidFill>
                <a:latin typeface="Hiragino Kaku Gothic ProN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468112"/>
            <a:ext cx="3794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C2418"/>
                </a:solidFill>
                <a:latin typeface="Hiragino Kaku Gothic ProN"/>
              </a:rPr>
              <a:t>ホーム画面（一覧・検索）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Webプログラミング体験授業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4864" cy="256032"/>
          </a:xfrm>
          <a:prstGeom prst="rect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6576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5551F"/>
                </a:solidFill>
                <a:latin typeface="Hiragino Kaku Gothic ProN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C2418"/>
                </a:solidFill>
                <a:latin typeface="Hiragino Mincho ProN"/>
              </a:rPr>
              <a:t>ボタンの文字を変えてみよう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7A6D54"/>
                </a:solidFill>
                <a:latin typeface="Hiragino Kaku Gothic ProN"/>
              </a:rPr>
              <a:t>投稿ボタンの表示が分かりにくい…テキストエディタで直接直してみよう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0332720" cy="16002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468880" cy="457200"/>
          </a:xfrm>
          <a:prstGeom prst="roundRect">
            <a:avLst>
              <a:gd name="adj" fmla="val 15000"/>
            </a:avLst>
          </a:prstGeom>
          <a:solidFill>
            <a:srgbClr val="2C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7E9DC"/>
                </a:solidFill>
                <a:latin typeface="Courier New"/>
              </a:rPr>
              <a:t>upload.php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148840"/>
            <a:ext cx="7040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2418"/>
                </a:solidFill>
                <a:latin typeface="Hiragino Kaku Gothic ProN"/>
              </a:rPr>
              <a:t>HTML内のボタンの文言を書き換える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A6D54"/>
                </a:solidFill>
                <a:latin typeface="Hiragino Kaku Gothic ProN"/>
              </a:rPr>
              <a:t>コードを保存して、ブラウザを再読み込みするだけ。画面の表示がその場で変わることを確認しよう。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49039"/>
            <a:ext cx="4572000" cy="1828800"/>
          </a:xfrm>
          <a:prstGeom prst="roundRect">
            <a:avLst>
              <a:gd name="adj" fmla="val 5000"/>
            </a:avLst>
          </a:prstGeom>
          <a:solidFill>
            <a:srgbClr val="EFE6D3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31919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A6D54"/>
                </a:solidFill>
                <a:latin typeface="Hiragino Kaku Gothic ProN"/>
              </a:rPr>
              <a:t>BEFORE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434839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DDC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434839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C2418"/>
                </a:solidFill>
                <a:latin typeface="Hiragino Kaku Gothic ProN"/>
              </a:rPr>
              <a:t>ボタン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486400" y="4434840"/>
            <a:ext cx="777240" cy="457200"/>
          </a:xfrm>
          <a:prstGeom prst="rightArrow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3749039"/>
            <a:ext cx="4572000" cy="1828800"/>
          </a:xfrm>
          <a:prstGeom prst="roundRect">
            <a:avLst>
              <a:gd name="adj" fmla="val 5000"/>
            </a:avLst>
          </a:prstGeom>
          <a:solidFill>
            <a:srgbClr val="F7E9DC"/>
          </a:solidFill>
          <a:ln w="12700">
            <a:solidFill>
              <a:srgbClr val="B5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931919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5551F"/>
                </a:solidFill>
                <a:latin typeface="Hiragino Kaku Gothic ProN"/>
              </a:rPr>
              <a:t>AFTER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4434839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4434839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8EC"/>
                </a:solidFill>
                <a:latin typeface="Hiragino Kaku Gothic ProN"/>
              </a:rPr>
              <a:t>投稿する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Webプログラミング体験授業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4864" cy="256032"/>
          </a:xfrm>
          <a:prstGeom prst="rect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6576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5551F"/>
                </a:solidFill>
                <a:latin typeface="Hiragino Kaku Gothic ProN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C2418"/>
                </a:solidFill>
                <a:latin typeface="Hiragino Mincho ProN"/>
              </a:rPr>
              <a:t>コメントアウトって何？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7A6D54"/>
                </a:solidFill>
                <a:latin typeface="Hiragino Kaku Gothic ProN"/>
              </a:rPr>
              <a:t>コメントを投稿してみよう…あれ、投稿できない！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0332720" cy="155448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926080" cy="457200"/>
          </a:xfrm>
          <a:prstGeom prst="roundRect">
            <a:avLst>
              <a:gd name="adj" fmla="val 15000"/>
            </a:avLst>
          </a:prstGeom>
          <a:solidFill>
            <a:srgbClr val="2C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7E9DC"/>
                </a:solidFill>
                <a:latin typeface="Courier New"/>
              </a:rPr>
              <a:t>comments.php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148840"/>
            <a:ext cx="6583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2418"/>
                </a:solidFill>
                <a:latin typeface="Hiragino Kaku Gothic ProN"/>
              </a:rPr>
              <a:t>先頭に付いている // を外してみよう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A6D54"/>
                </a:solidFill>
                <a:latin typeface="Hiragino Kaku Gothic ProN"/>
              </a:rPr>
              <a:t>たった2文字を消すだけで、投稿できなかったコメントが投稿できるようになる。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03320"/>
            <a:ext cx="10058400" cy="1417320"/>
          </a:xfrm>
          <a:prstGeom prst="roundRect">
            <a:avLst>
              <a:gd name="adj" fmla="val 6000"/>
            </a:avLst>
          </a:prstGeom>
          <a:solidFill>
            <a:srgbClr val="2C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01168" rIns="274320"/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9A9A8A"/>
                </a:solidFill>
                <a:latin typeface="Courier New"/>
              </a:rPr>
              <a:t>// この行の後ろは、実行されるときに無視されます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F7E9DC"/>
                </a:solidFill>
                <a:latin typeface="Courier New"/>
              </a:rPr>
              <a:t>echo "Hello, World!";  </a:t>
            </a:r>
            <a:r>
              <a:rPr sz="1300">
                <a:solidFill>
                  <a:srgbClr val="9A9A8A"/>
                </a:solidFill>
                <a:latin typeface="Courier New"/>
              </a:rPr>
              <a:t>// ← ここから先はコメント（無視される）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Webプログラミング体験授業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4864" cy="256032"/>
          </a:xfrm>
          <a:prstGeom prst="rect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6576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5551F"/>
                </a:solidFill>
                <a:latin typeface="Hiragino Kaku Gothic ProN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C2418"/>
                </a:solidFill>
                <a:latin typeface="Hiragino Mincho ProN"/>
              </a:rPr>
              <a:t>APIってなに？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7A6D54"/>
                </a:solidFill>
                <a:latin typeface="Hiragino Kaku Gothic ProN"/>
              </a:rPr>
              <a:t>「📍 現在地を取得」ボタンを押すと、住所が自動で入力される仕組みを見てみよう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2331720" cy="192024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0" i="0">
                <a:solidFill>
                  <a:srgbClr val="2C2418"/>
                </a:solidFill>
                <a:latin typeface="Hiragino Kaku Gothic ProN"/>
              </a:rPr>
              <a:t>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54680"/>
            <a:ext cx="2057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2C2418"/>
                </a:solidFill>
                <a:latin typeface="Hiragino Kaku Gothic ProN"/>
              </a:rPr>
              <a:t>ブラウザが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2C2418"/>
                </a:solidFill>
                <a:latin typeface="Hiragino Kaku Gothic ProN"/>
              </a:rPr>
              <a:t>現在地(緯度・経度)を取得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25496" y="3017520"/>
            <a:ext cx="262128" cy="274320"/>
          </a:xfrm>
          <a:prstGeom prst="rightArrow">
            <a:avLst/>
          </a:prstGeom>
          <a:solidFill>
            <a:srgbClr val="8A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24200" y="2194560"/>
            <a:ext cx="2331720" cy="192024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4200" y="242316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0" i="0">
                <a:solidFill>
                  <a:srgbClr val="2C2418"/>
                </a:solidFill>
                <a:latin typeface="Hiragino Kaku Gothic ProN"/>
              </a:rPr>
              <a:t>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1360" y="3154680"/>
            <a:ext cx="2057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2C2418"/>
                </a:solidFill>
                <a:latin typeface="Hiragino Kaku Gothic ProN"/>
              </a:rPr>
              <a:t>サーバー(geocode.php)が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2C2418"/>
                </a:solidFill>
                <a:latin typeface="Hiragino Kaku Gothic ProN"/>
              </a:rPr>
              <a:t>外部APIに問い合わせ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492496" y="3017520"/>
            <a:ext cx="262128" cy="274320"/>
          </a:xfrm>
          <a:prstGeom prst="rightArrow">
            <a:avLst/>
          </a:prstGeom>
          <a:solidFill>
            <a:srgbClr val="8A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91200" y="2194560"/>
            <a:ext cx="2331720" cy="1920240"/>
          </a:xfrm>
          <a:prstGeom prst="roundRect">
            <a:avLst>
              <a:gd name="adj" fmla="val 5000"/>
            </a:avLst>
          </a:prstGeom>
          <a:solidFill>
            <a:srgbClr val="F7E9DC"/>
          </a:solidFill>
          <a:ln w="12700">
            <a:solidFill>
              <a:srgbClr val="B5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91200" y="242316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0" i="0">
                <a:solidFill>
                  <a:srgbClr val="2C2418"/>
                </a:solidFill>
                <a:latin typeface="Hiragino Kaku Gothic ProN"/>
              </a:rPr>
              <a:t>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8360" y="3154680"/>
            <a:ext cx="2057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2C2418"/>
                </a:solidFill>
                <a:latin typeface="Hiragino Kaku Gothic ProN"/>
              </a:rPr>
              <a:t>外部の住所検索API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2C2418"/>
                </a:solidFill>
                <a:latin typeface="Hiragino Kaku Gothic ProN"/>
              </a:rPr>
              <a:t>(OpenStreetMap)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159496" y="3017520"/>
            <a:ext cx="262128" cy="274320"/>
          </a:xfrm>
          <a:prstGeom prst="rightArrow">
            <a:avLst/>
          </a:prstGeom>
          <a:solidFill>
            <a:srgbClr val="8A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58200" y="2194560"/>
            <a:ext cx="2331720" cy="192024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42316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0" i="0">
                <a:solidFill>
                  <a:srgbClr val="2C2418"/>
                </a:solidFill>
                <a:latin typeface="Hiragino Kaku Gothic ProN"/>
              </a:rPr>
              <a:t>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154680"/>
            <a:ext cx="2057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2C2418"/>
                </a:solidFill>
                <a:latin typeface="Hiragino Kaku Gothic ProN"/>
              </a:rPr>
              <a:t>住所が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2C2418"/>
                </a:solidFill>
                <a:latin typeface="Hiragino Kaku Gothic ProN"/>
              </a:rPr>
              <a:t>自動入力される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4348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350" b="0" i="0">
                <a:solidFill>
                  <a:srgbClr val="7A6D54"/>
                </a:solidFill>
                <a:latin typeface="Hiragino Kaku Gothic ProN"/>
              </a:rPr>
              <a:t>「URLを叩けばデータが返ってくる」——これが外部API（Application Programming Interface）の仕組み。</a:t>
            </a:r>
          </a:p>
          <a:p>
            <a:pPr algn="ctr">
              <a:lnSpc>
                <a:spcPct val="140000"/>
              </a:lnSpc>
            </a:pPr>
            <a:r>
              <a:rPr sz="1350" b="0" i="0">
                <a:solidFill>
                  <a:srgbClr val="7A6D54"/>
                </a:solidFill>
                <a:latin typeface="Hiragino Kaku Gothic ProN"/>
              </a:rPr>
              <a:t>ブラウザの機能とサーバーの機能が連携して、1つの機能をつくっています。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Webプログラミング体験授業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4864" cy="256032"/>
          </a:xfrm>
          <a:prstGeom prst="rect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6576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5551F"/>
                </a:solidFill>
                <a:latin typeface="Hiragino Kaku Gothic ProN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C2418"/>
                </a:solidFill>
                <a:latin typeface="Hiragino Mincho ProN"/>
              </a:rPr>
              <a:t>裏側で起きていること：関数の考え方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7A6D54"/>
                </a:solidFill>
                <a:latin typeface="Hiragino Kaku Gothic ProN"/>
              </a:rPr>
              <a:t>「郵便番号（緯度経度）を渡すと、住所が返ってくる」——これが「関数」です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EFE6D3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C2418"/>
                </a:solidFill>
                <a:latin typeface="Hiragino Kaku Gothic ProN"/>
              </a:rPr>
              <a:t>あなた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7A6D54"/>
                </a:solidFill>
                <a:latin typeface="Hiragino Kaku Gothic ProN"/>
              </a:rPr>
              <a:t>「住所教えて」</a:t>
            </a:r>
          </a:p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7A6D54"/>
                </a:solidFill>
                <a:latin typeface="Hiragino Kaku Gothic ProN"/>
              </a:rPr>
              <a:t>と呼び出す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37560" y="2514600"/>
            <a:ext cx="1051560" cy="365760"/>
          </a:xfrm>
          <a:prstGeom prst="rightArrow">
            <a:avLst/>
          </a:prstGeom>
          <a:solidFill>
            <a:srgbClr val="8A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2084832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7A6D54"/>
                </a:solidFill>
                <a:latin typeface="Hiragino Kaku Gothic ProN"/>
              </a:rPr>
              <a:t>緯度経度を渡す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377440"/>
            <a:ext cx="3063240" cy="1463040"/>
          </a:xfrm>
          <a:prstGeom prst="roundRect">
            <a:avLst>
              <a:gd name="adj" fmla="val 5000"/>
            </a:avLst>
          </a:prstGeom>
          <a:solidFill>
            <a:srgbClr val="F7E9DC"/>
          </a:solidFill>
          <a:ln w="12700">
            <a:solidFill>
              <a:srgbClr val="B5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51460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B5551F"/>
                </a:solidFill>
                <a:latin typeface="Hiragino Kaku Gothic ProN"/>
              </a:rPr>
              <a:t>住所検索の機能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92608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7A6D54"/>
                </a:solidFill>
                <a:latin typeface="Hiragino Kaku Gothic ProN"/>
              </a:rPr>
              <a:t>（関数）</a:t>
            </a:r>
          </a:p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7A6D54"/>
                </a:solidFill>
                <a:latin typeface="Hiragino Kaku Gothic ProN"/>
              </a:rPr>
              <a:t>中でどう処理するかは</a:t>
            </a:r>
          </a:p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7A6D54"/>
                </a:solidFill>
                <a:latin typeface="Hiragino Kaku Gothic ProN"/>
              </a:rPr>
              <a:t>呼び出す側は知らなくてよい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26679" y="2514600"/>
            <a:ext cx="1051560" cy="365760"/>
          </a:xfrm>
          <a:prstGeom prst="rightArrow">
            <a:avLst/>
          </a:prstGeom>
          <a:solidFill>
            <a:srgbClr val="8A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084832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7A6D54"/>
                </a:solidFill>
                <a:latin typeface="Hiragino Kaku Gothic ProN"/>
              </a:rPr>
              <a:t>住所データを返す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23774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EFE6D3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25146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C2418"/>
                </a:solidFill>
                <a:latin typeface="Hiragino Kaku Gothic ProN"/>
              </a:rPr>
              <a:t>画面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92608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7A6D54"/>
                </a:solidFill>
                <a:latin typeface="Hiragino Kaku Gothic ProN"/>
              </a:rPr>
              <a:t>住所が</a:t>
            </a:r>
          </a:p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7A6D54"/>
                </a:solidFill>
                <a:latin typeface="Hiragino Kaku Gothic ProN"/>
              </a:rPr>
              <a:t>自動入力される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63440"/>
            <a:ext cx="10607040" cy="105156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8920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2C2418"/>
                </a:solidFill>
                <a:latin typeface="Hiragino Kaku Gothic ProN"/>
              </a:rPr>
              <a:t>「機能をひとつのまとまりとして作っておき、必要なときに呼び出す」——これが関数の考え方。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2C2418"/>
                </a:solidFill>
                <a:latin typeface="Hiragino Kaku Gothic ProN"/>
              </a:rPr>
              <a:t>機能をつくることも、プログラマーの大事な仕事の一つです。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Webプログラミング体験授業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4864" cy="256032"/>
          </a:xfrm>
          <a:prstGeom prst="rect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6576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5551F"/>
                </a:solidFill>
                <a:latin typeface="Hiragino Kaku Gothic ProN"/>
              </a:rP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C2418"/>
                </a:solidFill>
                <a:latin typeface="Hiragino Mincho ProN"/>
              </a:rPr>
              <a:t>データベースって何？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7A6D54"/>
                </a:solidFill>
                <a:latin typeface="Hiragino Kaku Gothic ProN"/>
              </a:rPr>
              <a:t>投稿やコメントの情報は、どうやって保存されているんだろう？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120640" cy="41148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5551F"/>
                </a:solidFill>
                <a:latin typeface="Hiragino Kaku Gothic ProN"/>
              </a:rPr>
              <a:t>考えてみよう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C2418"/>
                </a:solidFill>
                <a:latin typeface="Hiragino Kaku Gothic ProN"/>
              </a:rPr>
              <a:t>「コメント」を特定するには、どんな情報が必要そう？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2C2418"/>
                </a:solidFill>
                <a:latin typeface="Hiragino Kaku Gothic ProN"/>
              </a:rPr>
              <a:t>●  データを整理して扱いやすくすることも
プログラマーの大事な仕事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2C2418"/>
                </a:solidFill>
                <a:latin typeface="Hiragino Kaku Gothic ProN"/>
              </a:rPr>
              <a:t>●  タグ検索も、データベースへの問い合わせ（SQL）で
欲しい情報だけを取り出している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2C2418"/>
                </a:solidFill>
                <a:latin typeface="Hiragino Kaku Gothic ProN"/>
              </a:rPr>
              <a:t>●  AI時代になるほど、この考え方はますます重要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874519"/>
            <a:ext cx="5852160" cy="4114800"/>
          </a:xfrm>
          <a:prstGeom prst="roundRect">
            <a:avLst>
              <a:gd name="adj" fmla="val 5000"/>
            </a:avLst>
          </a:prstGeom>
          <a:solidFill>
            <a:srgbClr val="EFE6D3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1031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C2418"/>
                </a:solidFill>
                <a:latin typeface="Hiragino Kaku Gothic ProN"/>
              </a:rPr>
              <a:t>コメントに必要な情報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06040"/>
            <a:ext cx="5212080" cy="548640"/>
          </a:xfrm>
          <a:prstGeom prst="roundRect">
            <a:avLst>
              <a:gd name="adj" fmla="val 50000"/>
            </a:avLst>
          </a:prstGeom>
          <a:solidFill>
            <a:srgbClr val="F7E9DC"/>
          </a:solidFill>
          <a:ln w="9525">
            <a:solidFill>
              <a:srgbClr val="ECD3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606040"/>
            <a:ext cx="5212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5551F"/>
                </a:solidFill>
                <a:latin typeface="Hiragino Kaku Gothic ProN"/>
              </a:rPr>
              <a:t>コメントID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264408"/>
            <a:ext cx="5212080" cy="548640"/>
          </a:xfrm>
          <a:prstGeom prst="roundRect">
            <a:avLst>
              <a:gd name="adj" fmla="val 50000"/>
            </a:avLst>
          </a:prstGeom>
          <a:solidFill>
            <a:srgbClr val="F7E9DC"/>
          </a:solidFill>
          <a:ln w="9525">
            <a:solidFill>
              <a:srgbClr val="ECD3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3264408"/>
            <a:ext cx="5212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5551F"/>
                </a:solidFill>
                <a:latin typeface="Hiragino Kaku Gothic ProN"/>
              </a:rPr>
              <a:t>投稿されたスポット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22776"/>
            <a:ext cx="5212080" cy="548640"/>
          </a:xfrm>
          <a:prstGeom prst="roundRect">
            <a:avLst>
              <a:gd name="adj" fmla="val 50000"/>
            </a:avLst>
          </a:prstGeom>
          <a:solidFill>
            <a:srgbClr val="F7E9DC"/>
          </a:solidFill>
          <a:ln w="9525">
            <a:solidFill>
              <a:srgbClr val="ECD3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922776"/>
            <a:ext cx="5212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5551F"/>
                </a:solidFill>
                <a:latin typeface="Hiragino Kaku Gothic ProN"/>
              </a:rPr>
              <a:t>投稿日時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581144"/>
            <a:ext cx="5212080" cy="548640"/>
          </a:xfrm>
          <a:prstGeom prst="roundRect">
            <a:avLst>
              <a:gd name="adj" fmla="val 50000"/>
            </a:avLst>
          </a:prstGeom>
          <a:solidFill>
            <a:srgbClr val="F7E9DC"/>
          </a:solidFill>
          <a:ln w="9525">
            <a:solidFill>
              <a:srgbClr val="ECD3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4581144"/>
            <a:ext cx="5212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5551F"/>
                </a:solidFill>
                <a:latin typeface="Hiragino Kaku Gothic ProN"/>
              </a:rPr>
              <a:t>コメント本文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5239512"/>
            <a:ext cx="5212080" cy="548640"/>
          </a:xfrm>
          <a:prstGeom prst="roundRect">
            <a:avLst>
              <a:gd name="adj" fmla="val 50000"/>
            </a:avLst>
          </a:prstGeom>
          <a:solidFill>
            <a:srgbClr val="F7E9DC"/>
          </a:solidFill>
          <a:ln w="9525">
            <a:solidFill>
              <a:srgbClr val="ECD3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5239512"/>
            <a:ext cx="5212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5551F"/>
                </a:solidFill>
                <a:latin typeface="Hiragino Kaku Gothic ProN"/>
              </a:rPr>
              <a:t>投稿したユーザー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Webプログラミング体験授業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4864" cy="256032"/>
          </a:xfrm>
          <a:prstGeom prst="rect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6576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5551F"/>
                </a:solidFill>
                <a:latin typeface="Hiragino Kaku Gothic ProN"/>
              </a:rP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C2418"/>
                </a:solidFill>
                <a:latin typeface="Hiragino Mincho ProN"/>
              </a:rPr>
              <a:t>入力チェックを追加しよう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7A6D54"/>
                </a:solidFill>
                <a:latin typeface="Hiragino Kaku Gothic ProN"/>
              </a:rPr>
              <a:t>コメント欄が空白のままでも、投稿できてしまう…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5074920" cy="1920240"/>
          </a:xfrm>
          <a:prstGeom prst="roundRect">
            <a:avLst>
              <a:gd name="adj" fmla="val 5000"/>
            </a:avLst>
          </a:prstGeom>
          <a:solidFill>
            <a:srgbClr val="F7E9DC"/>
          </a:solidFill>
          <a:ln w="12700">
            <a:solidFill>
              <a:srgbClr val="B5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5551F"/>
                </a:solidFill>
                <a:latin typeface="Hiragino Kaku Gothic ProN"/>
              </a:rPr>
              <a:t>😮 今の状態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2C2418"/>
                </a:solidFill>
                <a:latin typeface="Hiragino Kaku Gothic ProN"/>
              </a:rPr>
              <a:t>●  空欄のまま投稿ボタンを押しても通ってしまう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2C2418"/>
                </a:solidFill>
                <a:latin typeface="Hiragino Kaku Gothic ProN"/>
              </a:rPr>
              <a:t>●  実際のシステムでは入力漏れチェックが必須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42432" y="1920240"/>
            <a:ext cx="5074920" cy="192024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6752" y="21031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2418"/>
                </a:solidFill>
                <a:latin typeface="Hiragino Kaku Gothic ProN"/>
              </a:rPr>
              <a:t>✅ やること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6752" y="260604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2C2418"/>
                </a:solidFill>
                <a:latin typeface="Hiragino Kaku Gothic ProN"/>
              </a:rPr>
              <a:t>●  comments.php に短いコードを追加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2C2418"/>
                </a:solidFill>
                <a:latin typeface="Hiragino Kaku Gothic ProN"/>
              </a:rPr>
              <a:t>●  if文で「空文字かどうか」をチェックする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10332720" cy="1417320"/>
          </a:xfrm>
          <a:prstGeom prst="roundRect">
            <a:avLst>
              <a:gd name="adj" fmla="val 6000"/>
            </a:avLst>
          </a:prstGeom>
          <a:solidFill>
            <a:srgbClr val="2C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lnSpc>
                <a:spcPct val="140000"/>
              </a:lnSpc>
            </a:pPr>
            <a:r>
              <a:rPr sz="1500">
                <a:solidFill>
                  <a:srgbClr val="F7E9DC"/>
                </a:solidFill>
                <a:latin typeface="Courier New"/>
              </a:rPr>
              <a:t>if ($message === '') {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9A9A8A"/>
                </a:solidFill>
                <a:latin typeface="Courier New"/>
              </a:rPr>
              <a:t>    // コメントが空のときは投稿を止める</a:t>
            </a:r>
          </a:p>
          <a:p>
            <a:pPr>
              <a:lnSpc>
                <a:spcPct val="140000"/>
              </a:lnSpc>
            </a:pPr>
            <a:r>
              <a:rPr sz="1500">
                <a:solidFill>
                  <a:srgbClr val="F7E9DC"/>
                </a:solidFill>
                <a:latin typeface="Courier New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42432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7A6D54"/>
                </a:solidFill>
                <a:latin typeface="Hiragino Kaku Gothic ProN"/>
              </a:rPr>
              <a:t>難しそうに見えて、実は実際のシステムでもよく使われる基本的な機能です。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Webプログラミング体験授業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4864" cy="256032"/>
          </a:xfrm>
          <a:prstGeom prst="rect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6576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5551F"/>
                </a:solidFill>
                <a:latin typeface="Hiragino Kaku Gothic ProN"/>
              </a:rPr>
              <a:t>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C2418"/>
                </a:solidFill>
                <a:latin typeface="Hiragino Mincho ProN"/>
              </a:rPr>
              <a:t>自由にアレンジしてみよう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7A6D54"/>
                </a:solidFill>
                <a:latin typeface="Hiragino Kaku Gothic ProN"/>
              </a:rPr>
              <a:t>「言われた通り」じゃなく、自分で考えて直してみよう（任意・発展）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0332720" cy="18288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5551F"/>
                </a:solidFill>
                <a:latin typeface="Hiragino Kaku Gothic ProN"/>
              </a:rPr>
              <a:t>例：コメントの表示を変えてみる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3657600" cy="822960"/>
          </a:xfrm>
          <a:prstGeom prst="roundRect">
            <a:avLst>
              <a:gd name="adj" fmla="val 50000"/>
            </a:avLst>
          </a:prstGeom>
          <a:solidFill>
            <a:srgbClr val="EF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3657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C2418"/>
                </a:solidFill>
                <a:latin typeface="Hiragino Kaku Gothic ProN"/>
              </a:rPr>
              <a:t>「ジョンさん」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54880" y="2926080"/>
            <a:ext cx="914400" cy="457200"/>
          </a:xfrm>
          <a:prstGeom prst="rightArrow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52160" y="2743200"/>
            <a:ext cx="3657600" cy="822960"/>
          </a:xfrm>
          <a:prstGeom prst="roundRect">
            <a:avLst>
              <a:gd name="adj" fmla="val 50000"/>
            </a:avLst>
          </a:prstGeom>
          <a:solidFill>
            <a:srgbClr val="F7E9DC"/>
          </a:solidFill>
          <a:ln w="12700">
            <a:solidFill>
              <a:srgbClr val="B5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743200"/>
            <a:ext cx="3657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B5551F"/>
                </a:solidFill>
                <a:latin typeface="Hiragino Kaku Gothic ProN"/>
              </a:rPr>
              <a:t>「ジョン様」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062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2C2418"/>
                </a:solidFill>
                <a:latin typeface="Hiragino Kaku Gothic ProN"/>
              </a:rPr>
              <a:t>●  タグの表示を変えてみる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2C2418"/>
                </a:solidFill>
                <a:latin typeface="Hiragino Kaku Gothic ProN"/>
              </a:rPr>
              <a:t>●  コメント表示の文言を工夫してみる（「さん」→「様」など）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2C2418"/>
                </a:solidFill>
                <a:latin typeface="Hiragino Kaku Gothic ProN"/>
              </a:rPr>
              <a:t>●  他にも気になった部分は自由に触ってみよう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Webプログラミング体験授業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4864" cy="256032"/>
          </a:xfrm>
          <a:prstGeom prst="rect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6576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5551F"/>
                </a:solidFill>
                <a:latin typeface="Hiragino Kaku Gothic ProN"/>
              </a:rP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C2418"/>
                </a:solidFill>
                <a:latin typeface="Hiragino Mincho ProN"/>
              </a:rPr>
              <a:t>今日たどった道のり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5074920" cy="9144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8368" y="1956816"/>
            <a:ext cx="384048" cy="384048"/>
          </a:xfrm>
          <a:prstGeom prst="ellipse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8EC"/>
                </a:solidFill>
                <a:latin typeface="Hiragino Kaku Gothic ProN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91640"/>
            <a:ext cx="4069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C2418"/>
                </a:solidFill>
                <a:latin typeface="Hiragino Kaku Gothic ProN"/>
              </a:rPr>
              <a:t>プログラミングと Web の仕組みを知る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15768"/>
            <a:ext cx="5074920" cy="9144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2980944"/>
            <a:ext cx="384048" cy="384048"/>
          </a:xfrm>
          <a:prstGeom prst="ellipse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8EC"/>
                </a:solidFill>
                <a:latin typeface="Hiragino Kaku Gothic Pro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15768"/>
            <a:ext cx="4069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C2418"/>
                </a:solidFill>
                <a:latin typeface="Hiragino Kaku Gothic ProN"/>
              </a:rPr>
              <a:t>サイトを起動して画面を確認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39896"/>
            <a:ext cx="5074920" cy="9144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4005072"/>
            <a:ext cx="384048" cy="384048"/>
          </a:xfrm>
          <a:prstGeom prst="ellipse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8EC"/>
                </a:solidFill>
                <a:latin typeface="Hiragino Kaku Gothic ProN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739896"/>
            <a:ext cx="4069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C2418"/>
                </a:solidFill>
                <a:latin typeface="Hiragino Kaku Gothic ProN"/>
              </a:rPr>
              <a:t>ボタンの文字を直して“味見”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764024"/>
            <a:ext cx="5074920" cy="9144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5029200"/>
            <a:ext cx="384048" cy="384048"/>
          </a:xfrm>
          <a:prstGeom prst="ellipse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8EC"/>
                </a:solidFill>
                <a:latin typeface="Hiragino Kaku Gothic ProN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764024"/>
            <a:ext cx="4069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C2418"/>
                </a:solidFill>
                <a:latin typeface="Hiragino Kaku Gothic ProN"/>
              </a:rPr>
              <a:t>会員登録してログイン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1691640"/>
            <a:ext cx="5074920" cy="9144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16168" y="1956816"/>
            <a:ext cx="384048" cy="384048"/>
          </a:xfrm>
          <a:prstGeom prst="ellipse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8EC"/>
                </a:solidFill>
                <a:latin typeface="Hiragino Kaku Gothic ProN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691640"/>
            <a:ext cx="4069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C2418"/>
                </a:solidFill>
                <a:latin typeface="Hiragino Kaku Gothic ProN"/>
              </a:rPr>
              <a:t>現在地から住所を自動入力（API体験）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2715768"/>
            <a:ext cx="5074920" cy="9144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16168" y="2980944"/>
            <a:ext cx="384048" cy="384048"/>
          </a:xfrm>
          <a:prstGeom prst="ellipse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8EC"/>
                </a:solidFill>
                <a:latin typeface="Hiragino Kaku Gothic ProN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715768"/>
            <a:ext cx="4069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C2418"/>
                </a:solidFill>
                <a:latin typeface="Hiragino Kaku Gothic ProN"/>
              </a:rPr>
              <a:t>コメント投稿を有効化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3739896"/>
            <a:ext cx="5074920" cy="9144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16168" y="4005072"/>
            <a:ext cx="384048" cy="384048"/>
          </a:xfrm>
          <a:prstGeom prst="ellipse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8EC"/>
                </a:solidFill>
                <a:latin typeface="Hiragino Kaku Gothic ProN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739896"/>
            <a:ext cx="4069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C2418"/>
                </a:solidFill>
                <a:latin typeface="Hiragino Kaku Gothic ProN"/>
              </a:rPr>
              <a:t>データベースの考え方を知る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0" y="4764024"/>
            <a:ext cx="5074920" cy="9144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16168" y="5029200"/>
            <a:ext cx="384048" cy="384048"/>
          </a:xfrm>
          <a:prstGeom prst="ellipse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8EC"/>
                </a:solidFill>
                <a:latin typeface="Hiragino Kaku Gothic ProN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764024"/>
            <a:ext cx="4069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C2418"/>
                </a:solidFill>
                <a:latin typeface="Hiragino Kaku Gothic ProN"/>
              </a:rPr>
              <a:t>入力チェックを自分で追加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Webプログラミング体験授業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54864" cy="256032"/>
          </a:xfrm>
          <a:prstGeom prst="rect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6576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5551F"/>
                </a:solidFill>
                <a:latin typeface="Hiragino Kaku Gothic ProN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C2418"/>
                </a:solidFill>
                <a:latin typeface="Hiragino Mincho ProN"/>
              </a:rPr>
              <a:t>今日の体験、実は仕事そのもの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10332720" cy="6858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760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C2418"/>
                </a:solidFill>
                <a:latin typeface="Hiragino Kaku Gothic ProN"/>
              </a:rPr>
              <a:t>ボタンの文字を変える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783080"/>
            <a:ext cx="3931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5551F"/>
                </a:solidFill>
                <a:latin typeface="Hiragino Kaku Gothic ProN"/>
              </a:rPr>
              <a:t>→ UIの改善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10332720" cy="6858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5760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C2418"/>
                </a:solidFill>
                <a:latin typeface="Hiragino Kaku Gothic ProN"/>
              </a:rPr>
              <a:t>住所を自動入力する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560320"/>
            <a:ext cx="3931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5551F"/>
                </a:solidFill>
                <a:latin typeface="Hiragino Kaku Gothic ProN"/>
              </a:rPr>
              <a:t>→ 外部API連携・データ処理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37560"/>
            <a:ext cx="10332720" cy="6858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5760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C2418"/>
                </a:solidFill>
                <a:latin typeface="Hiragino Kaku Gothic ProN"/>
              </a:rPr>
              <a:t>コメントを投稿できるようにする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337560"/>
            <a:ext cx="3931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5551F"/>
                </a:solidFill>
                <a:latin typeface="Hiragino Kaku Gothic ProN"/>
              </a:rPr>
              <a:t>→ 機能の実装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10332720" cy="6858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14800"/>
            <a:ext cx="5760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C2418"/>
                </a:solidFill>
                <a:latin typeface="Hiragino Kaku Gothic ProN"/>
              </a:rPr>
              <a:t>空欄チェックを追加する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114800"/>
            <a:ext cx="3931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5551F"/>
                </a:solidFill>
                <a:latin typeface="Hiragino Kaku Gothic ProN"/>
              </a:rPr>
              <a:t>→ バリデーション（入力チェック）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92040"/>
            <a:ext cx="10332720" cy="6858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C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5760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C2418"/>
                </a:solidFill>
                <a:latin typeface="Hiragino Kaku Gothic ProN"/>
              </a:rPr>
              <a:t>表示をアレンジする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892040"/>
            <a:ext cx="3931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5551F"/>
                </a:solidFill>
                <a:latin typeface="Hiragino Kaku Gothic ProN"/>
              </a:rPr>
              <a:t>→ 使いやすさ・見た目の工夫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064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7A6D54"/>
                </a:solidFill>
                <a:latin typeface="Hiragino Kaku Gothic ProN"/>
              </a:rPr>
              <a:t>小さな修正をして、動かして、確認する。この繰り返しが、実際の開発でも基本の流れです。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Webプログラミング体験授業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011680" y="4114800"/>
            <a:ext cx="4572000" cy="4572000"/>
          </a:xfrm>
          <a:prstGeom prst="ellipse">
            <a:avLst/>
          </a:prstGeom>
          <a:solidFill>
            <a:srgbClr val="EF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828800"/>
            <a:ext cx="4114800" cy="4114800"/>
          </a:xfrm>
          <a:prstGeom prst="ellipse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67528" y="1463040"/>
            <a:ext cx="502920" cy="502920"/>
          </a:xfrm>
          <a:prstGeom prst="ellipse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>
                <a:solidFill>
                  <a:srgbClr val="FFF8EC"/>
                </a:solidFill>
                <a:latin typeface="Hiragino Kaku Gothic ProN"/>
              </a:rPr>
              <a:t>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60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2C2418"/>
                </a:solidFill>
                <a:latin typeface="Hiragino Mincho ProN"/>
              </a:rPr>
              <a:t>小さな修正の積み重ねが、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360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B5551F"/>
                </a:solidFill>
                <a:latin typeface="Hiragino Mincho ProN"/>
              </a:rPr>
              <a:t>Webアプリを動かす力になる。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367528" y="4114800"/>
            <a:ext cx="1463040" cy="38100"/>
          </a:xfrm>
          <a:prstGeom prst="rect">
            <a:avLst/>
          </a:prstGeom>
          <a:solidFill>
            <a:srgbClr val="B5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360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7A6D54"/>
                </a:solidFill>
                <a:latin typeface="Hiragino Kaku Gothic ProN"/>
              </a:rPr>
              <a:t>ご参加ありがとうございました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Webプログラミング体験授業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6D54"/>
                </a:solidFill>
                <a:latin typeface="Hiragino Kaku Gothic ProN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